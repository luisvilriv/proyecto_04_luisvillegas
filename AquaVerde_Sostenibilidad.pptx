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5C2E">
              <a:alpha val="45000"/>
            </a:srgbClr>
          </a:solidFill>
          <a:ln w="12700">
            <a:solidFill>
              <a:srgbClr val="1A5C2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4114800" cy="4114800"/>
          </a:xfrm>
          <a:prstGeom prst="ellipse">
            <a:avLst/>
          </a:prstGeom>
          <a:solidFill>
            <a:srgbClr val="1A5C2E">
              <a:alpha val="40000"/>
            </a:srgbClr>
          </a:solidFill>
          <a:ln w="12700">
            <a:solidFill>
              <a:srgbClr val="1A5C2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ECF6A"/>
          </a:solidFill>
          <a:ln w="12700">
            <a:solidFill>
              <a:srgbClr val="3EC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438912"/>
            <a:ext cx="3474720" cy="365760"/>
          </a:xfrm>
          <a:prstGeom prst="roundRect">
            <a:avLst>
              <a:gd name="adj" fmla="val 45000"/>
            </a:avLst>
          </a:prstGeom>
          <a:solidFill>
            <a:srgbClr val="13401E"/>
          </a:solidFill>
          <a:ln w="19050">
            <a:solidFill>
              <a:srgbClr val="3ECF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438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F5CA"/>
                </a:solidFill>
              </a:rPr>
              <a:t>CLASE DE SOSTENIBILIDAD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931920" y="960120"/>
            <a:ext cx="1280160" cy="1280160"/>
          </a:xfrm>
          <a:prstGeom prst="ellipse">
            <a:avLst/>
          </a:prstGeom>
          <a:solidFill>
            <a:srgbClr val="1D6B36"/>
          </a:solidFill>
          <a:ln w="25400">
            <a:solidFill>
              <a:srgbClr val="3ECF6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70432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3774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AquaVerde</a:t>
            </a:r>
            <a:endParaRPr lang="en-US" sz="5800" dirty="0"/>
          </a:p>
        </p:txBody>
      </p:sp>
      <p:sp>
        <p:nvSpPr>
          <p:cNvPr id="10" name="Text 7"/>
          <p:cNvSpPr/>
          <p:nvPr/>
        </p:nvSpPr>
        <p:spPr>
          <a:xfrm>
            <a:off x="1097280" y="33375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3EC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botella que nutre al planeta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828800" y="3931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Envase 100% biodegradable fabricado con fibra de algas marinas y bambú,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DC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diseñado para desaparecer — no para contaminar.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5C2E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minuto se producen
</a:t>
            </a:r>
            <a:pPr indent="0" marL="0">
              <a:buNone/>
            </a:pPr>
            <a:r>
              <a:rPr lang="en-US" sz="5000" b="1" dirty="0">
                <a:solidFill>
                  <a:srgbClr val="1A6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MILLÓN
</a:t>
            </a:r>
            <a:pPr indent="0" marL="0">
              <a:buNone/>
            </a:pPr>
            <a:r>
              <a:rPr lang="en-US" sz="2600" dirty="0">
                <a:solidFill>
                  <a:srgbClr val="1A2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botellas plásticas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434840" y="594360"/>
            <a:ext cx="2103120" cy="164592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731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26280" y="1143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2628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toneladas de plástico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al océano por año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594360"/>
            <a:ext cx="2103120" cy="1645920"/>
          </a:xfrm>
          <a:prstGeom prst="rect">
            <a:avLst/>
          </a:prstGeom>
          <a:solidFill>
            <a:srgbClr val="FEF0E7"/>
          </a:solidFill>
          <a:ln w="19050">
            <a:solidFill>
              <a:srgbClr val="D35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143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685800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años en degradarse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una botella PET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434840" y="2423160"/>
            <a:ext cx="2103120" cy="1645920"/>
          </a:xfrm>
          <a:prstGeom prst="rect">
            <a:avLst/>
          </a:prstGeom>
          <a:solidFill>
            <a:srgbClr val="FDECEA"/>
          </a:solidFill>
          <a:ln w="1905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5603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9718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452628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del plástico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nunca se recicla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66560" y="2423160"/>
            <a:ext cx="2103120" cy="1645920"/>
          </a:xfrm>
          <a:prstGeom prst="rect">
            <a:avLst/>
          </a:prstGeom>
          <a:solidFill>
            <a:srgbClr val="F5EEF8"/>
          </a:solidFill>
          <a:ln w="1905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56032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9718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34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685800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botellas desechadas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cada día en el mundo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7200" y="4782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F5CA"/>
                </a:solidFill>
              </a:rPr>
              <a:t>Fuente: ONU Medio Ambiente / Break Free From Plastic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3D20"/>
          </a:solidFill>
          <a:ln w="12700">
            <a:solidFill>
              <a:srgbClr val="0F3D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0"/>
            <a:ext cx="45720" cy="5143500"/>
          </a:xfrm>
          <a:prstGeom prst="rect">
            <a:avLst/>
          </a:prstGeom>
          <a:solidFill>
            <a:srgbClr val="3ECF6A"/>
          </a:solidFill>
          <a:ln w="12700">
            <a:solidFill>
              <a:srgbClr val="3EC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731520"/>
            <a:ext cx="1645920" cy="3291840"/>
          </a:xfrm>
          <a:prstGeom prst="roundRect">
            <a:avLst>
              <a:gd name="adj" fmla="val 19444"/>
            </a:avLst>
          </a:prstGeom>
          <a:solidFill>
            <a:srgbClr val="1D6B36"/>
          </a:solidFill>
          <a:ln w="25400">
            <a:solidFill>
              <a:srgbClr val="3EC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411480"/>
            <a:ext cx="640080" cy="411480"/>
          </a:xfrm>
          <a:prstGeom prst="roundRect">
            <a:avLst>
              <a:gd name="adj" fmla="val 22222"/>
            </a:avLst>
          </a:prstGeom>
          <a:solidFill>
            <a:srgbClr val="2D8A4E"/>
          </a:solidFill>
          <a:ln w="12700">
            <a:solidFill>
              <a:srgbClr val="3ECF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005840"/>
            <a:ext cx="164592" cy="118872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828800"/>
            <a:ext cx="896112" cy="896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B8F5CA"/>
                </a:solidFill>
              </a:rPr>
              <a:t>AquaVerde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86200" y="3840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CF6A"/>
                </a:solidFill>
              </a:rPr>
              <a:t>NUESTRO PRODUCTO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86200" y="6858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AquaVerde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886200" y="14447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EC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Botella Biocompostable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886200" y="2057400"/>
            <a:ext cx="4983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ECF6A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1671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98848" y="2112264"/>
            <a:ext cx="4251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5E9"/>
                </a:solidFill>
              </a:rPr>
              <a:t>Fabricada con fibra de algas + bambú certificado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886200" y="2788920"/>
            <a:ext cx="4983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ECF6A">
                <a:alpha val="5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28986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98848" y="2843784"/>
            <a:ext cx="4251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5E9"/>
                </a:solidFill>
              </a:rPr>
              <a:t>Se biodegrada en 90 días en compostaje doméstico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3886200" y="3520440"/>
            <a:ext cx="4983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ECF6A">
                <a:alpha val="5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36301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98848" y="3575304"/>
            <a:ext cx="4251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5E9"/>
                </a:solidFill>
              </a:rPr>
              <a:t>Resistente al agua y temperaturas hasta 60°C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3886200" y="4251960"/>
            <a:ext cx="4983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ECF6A">
                <a:alpha val="5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436168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98848" y="4306824"/>
            <a:ext cx="4251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5E9"/>
                </a:solidFill>
              </a:rPr>
              <a:t>Tintas vegetales, sin BPA ni microplásticos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C10"/>
          </a:solidFill>
          <a:ln w="12700">
            <a:solidFill>
              <a:srgbClr val="071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CF6A"/>
                </a:solidFill>
              </a:rPr>
              <a:t>TRIPLE IMPACTO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3 pilares de sostenibilidad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2852928" cy="4224528"/>
          </a:xfrm>
          <a:prstGeom prst="rect">
            <a:avLst/>
          </a:prstGeom>
          <a:solidFill>
            <a:srgbClr val="E8F5E9"/>
          </a:solidFill>
          <a:ln w="19050">
            <a:solidFill>
              <a:srgbClr val="1A6B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13232"/>
            <a:ext cx="2852928" cy="82296"/>
          </a:xfrm>
          <a:prstGeom prst="rect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896112"/>
            <a:ext cx="914400" cy="914400"/>
          </a:xfrm>
          <a:prstGeom prst="ellipse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005840"/>
            <a:ext cx="694944" cy="694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956816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Ambiental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11480" y="2523744"/>
            <a:ext cx="64008" cy="438912"/>
          </a:xfrm>
          <a:prstGeom prst="rect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505456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D3A1C"/>
                </a:solidFill>
              </a:rPr>
              <a:t>CO₂ neutro en producción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3200400"/>
            <a:ext cx="64008" cy="438912"/>
          </a:xfrm>
          <a:prstGeom prst="rect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1821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D3A1C"/>
                </a:solidFill>
              </a:rPr>
              <a:t>Sin residuos tóxicos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1480" y="3877056"/>
            <a:ext cx="64008" cy="438912"/>
          </a:xfrm>
          <a:prstGeom prst="rect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8587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D3A1C"/>
                </a:solidFill>
              </a:rPr>
              <a:t>Mejora ecosistemas marinos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37560" y="713232"/>
            <a:ext cx="2852928" cy="4224528"/>
          </a:xfrm>
          <a:prstGeom prst="rect">
            <a:avLst/>
          </a:prstGeom>
          <a:solidFill>
            <a:srgbClr val="FEF3E7"/>
          </a:solidFill>
          <a:ln w="19050">
            <a:solidFill>
              <a:srgbClr val="C0550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37560" y="713232"/>
            <a:ext cx="2852928" cy="82296"/>
          </a:xfrm>
          <a:prstGeom prst="rect">
            <a:avLst/>
          </a:prstGeom>
          <a:solidFill>
            <a:srgbClr val="C0550A"/>
          </a:solidFill>
          <a:ln w="12700">
            <a:solidFill>
              <a:srgbClr val="C0550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06824" y="896112"/>
            <a:ext cx="914400" cy="914400"/>
          </a:xfrm>
          <a:prstGeom prst="ellipse">
            <a:avLst/>
          </a:prstGeom>
          <a:solidFill>
            <a:srgbClr val="C0550A"/>
          </a:solidFill>
          <a:ln w="12700">
            <a:solidFill>
              <a:srgbClr val="C0550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005840"/>
            <a:ext cx="694944" cy="6949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47288" y="1956816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3474720" y="2523744"/>
            <a:ext cx="64008" cy="438912"/>
          </a:xfrm>
          <a:prstGeom prst="rect">
            <a:avLst/>
          </a:prstGeom>
          <a:solidFill>
            <a:srgbClr val="C0550A"/>
          </a:solidFill>
          <a:ln w="12700">
            <a:solidFill>
              <a:srgbClr val="C055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30168" y="2505456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2B00"/>
                </a:solidFill>
              </a:rPr>
              <a:t>Emplea comunidades costeras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3474720" y="3200400"/>
            <a:ext cx="64008" cy="438912"/>
          </a:xfrm>
          <a:prstGeom prst="rect">
            <a:avLst/>
          </a:prstGeom>
          <a:solidFill>
            <a:srgbClr val="C0550A"/>
          </a:solidFill>
          <a:ln w="12700">
            <a:solidFill>
              <a:srgbClr val="C055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30168" y="31821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2B00"/>
                </a:solidFill>
              </a:rPr>
              <a:t>Precio accesible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3474720" y="3877056"/>
            <a:ext cx="64008" cy="438912"/>
          </a:xfrm>
          <a:prstGeom prst="rect">
            <a:avLst/>
          </a:prstGeom>
          <a:solidFill>
            <a:srgbClr val="C0550A"/>
          </a:solidFill>
          <a:ln w="12700">
            <a:solidFill>
              <a:srgbClr val="C055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30168" y="38587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2B00"/>
                </a:solidFill>
              </a:rPr>
              <a:t>Educación ambiental incluida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00800" y="713232"/>
            <a:ext cx="2852928" cy="4224528"/>
          </a:xfrm>
          <a:prstGeom prst="rect">
            <a:avLst/>
          </a:prstGeom>
          <a:solidFill>
            <a:srgbClr val="F3E8FF"/>
          </a:solidFill>
          <a:ln w="19050">
            <a:solidFill>
              <a:srgbClr val="5B1E8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0800" y="713232"/>
            <a:ext cx="2852928" cy="82296"/>
          </a:xfrm>
          <a:prstGeom prst="rect">
            <a:avLst/>
          </a:prstGeom>
          <a:solidFill>
            <a:srgbClr val="5B1E8C"/>
          </a:solidFill>
          <a:ln w="12700">
            <a:solidFill>
              <a:srgbClr val="5B1E8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370064" y="896112"/>
            <a:ext cx="914400" cy="914400"/>
          </a:xfrm>
          <a:prstGeom prst="ellipse">
            <a:avLst/>
          </a:prstGeom>
          <a:solidFill>
            <a:srgbClr val="5B1E8C"/>
          </a:solidFill>
          <a:ln w="12700">
            <a:solidFill>
              <a:srgbClr val="5B1E8C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1005840"/>
            <a:ext cx="694944" cy="6949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10528" y="1956816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0B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Económico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6537960" y="2523744"/>
            <a:ext cx="64008" cy="438912"/>
          </a:xfrm>
          <a:prstGeom prst="rect">
            <a:avLst/>
          </a:prstGeom>
          <a:solidFill>
            <a:srgbClr val="5B1E8C"/>
          </a:solidFill>
          <a:ln w="12700">
            <a:solidFill>
              <a:srgbClr val="5B1E8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693408" y="2505456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D0B50"/>
                </a:solidFill>
              </a:rPr>
              <a:t>Economía circular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537960" y="3200400"/>
            <a:ext cx="64008" cy="438912"/>
          </a:xfrm>
          <a:prstGeom prst="rect">
            <a:avLst/>
          </a:prstGeom>
          <a:solidFill>
            <a:srgbClr val="5B1E8C"/>
          </a:solidFill>
          <a:ln w="12700">
            <a:solidFill>
              <a:srgbClr val="5B1E8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693408" y="31821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D0B50"/>
                </a:solidFill>
              </a:rPr>
              <a:t>Subsidios verdes aplicables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537960" y="3877056"/>
            <a:ext cx="64008" cy="438912"/>
          </a:xfrm>
          <a:prstGeom prst="rect">
            <a:avLst/>
          </a:prstGeom>
          <a:solidFill>
            <a:srgbClr val="5B1E8C"/>
          </a:solidFill>
          <a:ln w="12700">
            <a:solidFill>
              <a:srgbClr val="5B1E8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693408" y="38587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D0B50"/>
                </a:solidFill>
              </a:rPr>
              <a:t>Escala industrial viable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5C2E"/>
                </a:solidFill>
              </a:rPr>
              <a:t>IMPACTO PROYECTADO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D2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el 1% del mercado adopta AquaVerde...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536192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91056"/>
            <a:ext cx="713232" cy="7132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0784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5331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3.65B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463040" y="2084832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botellas plásticas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evitadas al año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00600" y="1280160"/>
            <a:ext cx="4114800" cy="1536192"/>
          </a:xfrm>
          <a:prstGeom prst="rect">
            <a:avLst/>
          </a:prstGeom>
          <a:solidFill>
            <a:srgbClr val="EBF5FB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591056"/>
            <a:ext cx="713232" cy="71323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00784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35331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182K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5806440" y="2084832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toneladas de plástico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no generadas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035808"/>
            <a:ext cx="4114800" cy="1536192"/>
          </a:xfrm>
          <a:prstGeom prst="rect">
            <a:avLst/>
          </a:prstGeom>
          <a:solidFill>
            <a:srgbClr val="E8F5E9"/>
          </a:solidFill>
          <a:ln w="19050">
            <a:solidFill>
              <a:srgbClr val="1A6B3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3346704"/>
            <a:ext cx="713232" cy="713232"/>
          </a:xfrm>
          <a:prstGeom prst="ellipse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564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0896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6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910K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1463040" y="384048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toneladas de CO₂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no emitidas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800600" y="3035808"/>
            <a:ext cx="4114800" cy="1536192"/>
          </a:xfrm>
          <a:prstGeom prst="rect">
            <a:avLst/>
          </a:prstGeom>
          <a:solidFill>
            <a:srgbClr val="F3E8FF"/>
          </a:solidFill>
          <a:ln w="19050">
            <a:solidFill>
              <a:srgbClr val="5B1E8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346704"/>
            <a:ext cx="713232" cy="713232"/>
          </a:xfrm>
          <a:prstGeom prst="ellipse">
            <a:avLst/>
          </a:prstGeom>
          <a:solidFill>
            <a:srgbClr val="5B1E8C"/>
          </a:solidFill>
          <a:ln w="12700">
            <a:solidFill>
              <a:srgbClr val="5B1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45643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10896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12K+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5806440" y="384048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empleos en economía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verde creados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46542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 pequeño cambio de hábito, multiplicado por millones de personas, transforma el planeta."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C10"/>
          </a:solidFill>
          <a:ln w="12700">
            <a:solidFill>
              <a:srgbClr val="071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CF6A"/>
                </a:solidFill>
              </a:rPr>
              <a:t>¿YA EXISTE ALGO SIMILAR?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ciencia ya lo avala — AquaVerde lo lleva al siguiente nivel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69080" cy="2148840"/>
          </a:xfrm>
          <a:prstGeom prst="rect">
            <a:avLst/>
          </a:prstGeom>
          <a:solidFill>
            <a:srgbClr val="E8F5E9"/>
          </a:solidFill>
          <a:ln w="19050">
            <a:solidFill>
              <a:srgbClr val="1A6B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069080" cy="73152"/>
          </a:xfrm>
          <a:prstGeom prst="rect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914400"/>
            <a:ext cx="658368" cy="658368"/>
          </a:xfrm>
          <a:prstGeom prst="ellipse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2412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2144" y="9144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Notpla / Ooho · Londres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52144" y="124358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6B36"/>
                </a:solidFill>
              </a:rPr>
              <a:t>Premio Earthshot 2022 (1M £)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157276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A1A"/>
                </a:solidFill>
              </a:rPr>
              <a:t>Envases y cápsulas a base de algas marinas y plantas. Se biodegrada en 4–6 semanas. Ya se usa en maratones y eventos deportivos.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777240"/>
            <a:ext cx="4069080" cy="2148840"/>
          </a:xfrm>
          <a:prstGeom prst="rect">
            <a:avLst/>
          </a:prstGeom>
          <a:solidFill>
            <a:srgbClr val="EBF5FB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777240"/>
            <a:ext cx="4069080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0328" y="914400"/>
            <a:ext cx="658368" cy="65836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24128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78424" y="9144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 Jónsson · Islandia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78424" y="124358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5276"/>
                </a:solidFill>
              </a:rPr>
              <a:t>Investigación académica, 2016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37760" y="157276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B2840"/>
                </a:solidFill>
              </a:rPr>
              <a:t>Botella de polvo de algas rojas + agua. Se mantiene rígida mientras está llena y empieza a descomponerse sola al vaciarse.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74320" y="3063240"/>
            <a:ext cx="8595360" cy="347472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3063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F5CA"/>
                </a:solidFill>
              </a:rPr>
              <a:t>LO QUE HACE ÚNICO A AQUAVERDE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" y="3547872"/>
            <a:ext cx="192024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05840" y="3639312"/>
            <a:ext cx="640080" cy="640080"/>
          </a:xfrm>
          <a:prstGeom prst="ellipse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49040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4632" y="433425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6B36"/>
                </a:solidFill>
              </a:rPr>
              <a:t>Combina algas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6B36"/>
                </a:solidFill>
              </a:rPr>
              <a:t>+ bambú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2551176" y="3547872"/>
            <a:ext cx="1920240" cy="1417320"/>
          </a:xfrm>
          <a:prstGeom prst="rect">
            <a:avLst/>
          </a:prstGeom>
          <a:solidFill>
            <a:srgbClr val="EBF5FB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45536" y="3639312"/>
            <a:ext cx="640080" cy="64008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3749040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624328" y="433425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5276"/>
                </a:solidFill>
              </a:rPr>
              <a:t>Diseño para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5276"/>
                </a:solidFill>
              </a:rPr>
              <a:t>escala industrial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690872" y="3547872"/>
            <a:ext cx="192024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285232" y="3639312"/>
            <a:ext cx="640080" cy="640080"/>
          </a:xfrm>
          <a:prstGeom prst="ellipse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749040"/>
            <a:ext cx="420624" cy="4206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764024" y="433425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6B36"/>
                </a:solidFill>
              </a:rPr>
              <a:t>Precio competitivo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6B36"/>
                </a:solidFill>
              </a:rPr>
              <a:t>al PET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830568" y="3547872"/>
            <a:ext cx="1920240" cy="1417320"/>
          </a:xfrm>
          <a:prstGeom prst="rect">
            <a:avLst/>
          </a:prstGeom>
          <a:solidFill>
            <a:srgbClr val="F3E8FF"/>
          </a:solidFill>
          <a:ln w="12700">
            <a:solidFill>
              <a:srgbClr val="5B1E8C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424928" y="3639312"/>
            <a:ext cx="640080" cy="640080"/>
          </a:xfrm>
          <a:prstGeom prst="ellipse">
            <a:avLst/>
          </a:prstGeom>
          <a:solidFill>
            <a:srgbClr val="5B1E8C"/>
          </a:solidFill>
          <a:ln w="12700">
            <a:solidFill>
              <a:srgbClr val="5B1E8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3749040"/>
            <a:ext cx="420624" cy="4206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03720" y="433425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B1E8C"/>
                </a:solidFill>
              </a:rPr>
              <a:t>Mercado masivo,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B1E8C"/>
                </a:solidFill>
              </a:rPr>
              <a:t>no solo eventos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20"/>
          </a:solidFill>
          <a:ln w="12700">
            <a:solidFill>
              <a:srgbClr val="0F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CF6A"/>
                </a:solidFill>
              </a:rPr>
              <a:t>HOJA DE RUTA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idea al mercado en 4 fases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65376"/>
            <a:ext cx="7863840" cy="73152"/>
          </a:xfrm>
          <a:prstGeom prst="rect">
            <a:avLst/>
          </a:prstGeom>
          <a:solidFill>
            <a:srgbClr val="3ECF6A"/>
          </a:solidFill>
          <a:ln w="12700">
            <a:solidFill>
              <a:srgbClr val="3ECF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00784"/>
            <a:ext cx="384048" cy="384048"/>
          </a:xfrm>
          <a:prstGeom prst="ellipse">
            <a:avLst/>
          </a:prstGeom>
          <a:solidFill>
            <a:srgbClr val="3ECF6A"/>
          </a:solidFill>
          <a:ln w="12700">
            <a:solidFill>
              <a:srgbClr val="3EC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075688"/>
            <a:ext cx="2011680" cy="2871216"/>
          </a:xfrm>
          <a:prstGeom prst="rect">
            <a:avLst/>
          </a:prstGeom>
          <a:solidFill>
            <a:srgbClr val="133D22"/>
          </a:solidFill>
          <a:ln w="19050">
            <a:solidFill>
              <a:srgbClr val="3ECF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75688"/>
            <a:ext cx="2011680" cy="73152"/>
          </a:xfrm>
          <a:prstGeom prst="rect">
            <a:avLst/>
          </a:prstGeom>
          <a:solidFill>
            <a:srgbClr val="3ECF6A"/>
          </a:solidFill>
          <a:ln w="12700">
            <a:solidFill>
              <a:srgbClr val="3ECF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76272"/>
            <a:ext cx="640080" cy="640080"/>
          </a:xfrm>
          <a:prstGeom prst="ellipse">
            <a:avLst/>
          </a:prstGeom>
          <a:solidFill>
            <a:srgbClr val="3ECF6A">
              <a:alpha val="80000"/>
            </a:srgbClr>
          </a:solidFill>
          <a:ln w="12700">
            <a:solidFill>
              <a:srgbClr val="3ECF6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9514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8529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Investigación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CF6A"/>
                </a:solidFill>
              </a:rPr>
              <a:t>Meses 1–6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13632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" y="38862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Formulación algas+bambú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2976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" y="4270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Tests de resistencia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8172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" y="46542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Cert. biodegradable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154680" y="1700784"/>
            <a:ext cx="384048" cy="384048"/>
          </a:xfrm>
          <a:prstGeom prst="ellipse">
            <a:avLst/>
          </a:prstGeom>
          <a:solidFill>
            <a:srgbClr val="5BC8F5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560320" y="2075688"/>
            <a:ext cx="2011680" cy="2871216"/>
          </a:xfrm>
          <a:prstGeom prst="rect">
            <a:avLst/>
          </a:prstGeom>
          <a:solidFill>
            <a:srgbClr val="0A2A3D"/>
          </a:solidFill>
          <a:ln w="19050">
            <a:solidFill>
              <a:srgbClr val="5BC8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560320" y="2075688"/>
            <a:ext cx="2011680" cy="73152"/>
          </a:xfrm>
          <a:prstGeom prst="rect">
            <a:avLst/>
          </a:prstGeom>
          <a:solidFill>
            <a:srgbClr val="5BC8F5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200400" y="2176272"/>
            <a:ext cx="640080" cy="640080"/>
          </a:xfrm>
          <a:prstGeom prst="ellipse">
            <a:avLst/>
          </a:prstGeom>
          <a:solidFill>
            <a:srgbClr val="5BC8F5">
              <a:alpha val="80000"/>
            </a:srgbClr>
          </a:solidFill>
          <a:ln w="12700">
            <a:solidFill>
              <a:srgbClr val="5BC8F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295144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651760" y="28529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C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2651760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26517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C8F5"/>
                </a:solidFill>
              </a:rPr>
              <a:t>Meses 7–12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3913632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907792" y="38862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Moldes industriales</a:t>
            </a:r>
            <a:endParaRPr lang="en-US" sz="10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4297680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07792" y="4270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Pruebas de usuario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0" y="4681728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907792" y="46542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Ajuste de costes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5440680" y="1700784"/>
            <a:ext cx="384048" cy="38404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846320" y="2075688"/>
            <a:ext cx="2011680" cy="2871216"/>
          </a:xfrm>
          <a:prstGeom prst="rect">
            <a:avLst/>
          </a:prstGeom>
          <a:solidFill>
            <a:srgbClr val="3D2E0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4846320" y="2075688"/>
            <a:ext cx="2011680" cy="731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486400" y="2176272"/>
            <a:ext cx="640080" cy="640080"/>
          </a:xfrm>
          <a:prstGeom prst="ellipse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5272" y="2295144"/>
            <a:ext cx="402336" cy="40233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937760" y="28529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4937760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</a:t>
            </a:r>
            <a:endParaRPr lang="en-US" sz="1500" dirty="0"/>
          </a:p>
        </p:txBody>
      </p:sp>
      <p:sp>
        <p:nvSpPr>
          <p:cNvPr id="41" name="Text 30"/>
          <p:cNvSpPr/>
          <p:nvPr/>
        </p:nvSpPr>
        <p:spPr>
          <a:xfrm>
            <a:off x="49377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C842"/>
                </a:solidFill>
              </a:rPr>
              <a:t>Año 2</a:t>
            </a:r>
            <a:endParaRPr lang="en-US" sz="10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913632"/>
            <a:ext cx="201168" cy="20116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193792" y="38862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Lanzamiento en eventos</a:t>
            </a:r>
            <a:endParaRPr lang="en-US" sz="105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4297680"/>
            <a:ext cx="201168" cy="20116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193792" y="4270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Alianzas verdes</a:t>
            </a:r>
            <a:endParaRPr lang="en-US" sz="105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681728"/>
            <a:ext cx="201168" cy="20116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193792" y="46542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Medir huella carbono</a:t>
            </a:r>
            <a:endParaRPr lang="en-US" sz="1050" dirty="0"/>
          </a:p>
        </p:txBody>
      </p:sp>
      <p:sp>
        <p:nvSpPr>
          <p:cNvPr id="48" name="Shape 34"/>
          <p:cNvSpPr/>
          <p:nvPr/>
        </p:nvSpPr>
        <p:spPr>
          <a:xfrm>
            <a:off x="7726680" y="1700784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7132320" y="2075688"/>
            <a:ext cx="2011680" cy="2871216"/>
          </a:xfrm>
          <a:prstGeom prst="rect">
            <a:avLst/>
          </a:prstGeom>
          <a:solidFill>
            <a:srgbClr val="3D1F00"/>
          </a:solidFill>
          <a:ln w="19050">
            <a:solidFill>
              <a:srgbClr val="FF9F43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7132320" y="2075688"/>
            <a:ext cx="2011680" cy="7315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7772400" y="2176272"/>
            <a:ext cx="640080" cy="640080"/>
          </a:xfrm>
          <a:prstGeom prst="ellipse">
            <a:avLst/>
          </a:prstGeom>
          <a:solidFill>
            <a:srgbClr val="FF9F43">
              <a:alpha val="80000"/>
            </a:srgbClr>
          </a:solidFill>
          <a:ln w="12700">
            <a:solidFill>
              <a:srgbClr val="FF9F43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1272" y="2295144"/>
            <a:ext cx="402336" cy="402336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7223760" y="28529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54" name="Text 39"/>
          <p:cNvSpPr/>
          <p:nvPr/>
        </p:nvSpPr>
        <p:spPr>
          <a:xfrm>
            <a:off x="7223760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</a:t>
            </a:r>
            <a:endParaRPr lang="en-US" sz="1500" dirty="0"/>
          </a:p>
        </p:txBody>
      </p:sp>
      <p:sp>
        <p:nvSpPr>
          <p:cNvPr id="55" name="Text 40"/>
          <p:cNvSpPr/>
          <p:nvPr/>
        </p:nvSpPr>
        <p:spPr>
          <a:xfrm>
            <a:off x="72237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F43"/>
                </a:solidFill>
              </a:rPr>
              <a:t>Año 3+</a:t>
            </a:r>
            <a:endParaRPr lang="en-US" sz="1000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3760" y="3913632"/>
            <a:ext cx="201168" cy="201168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7479792" y="38862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Producción masiva</a:t>
            </a:r>
            <a:endParaRPr lang="en-US" sz="1050" dirty="0"/>
          </a:p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3760" y="4297680"/>
            <a:ext cx="201168" cy="201168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7479792" y="4270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Distribución intl.</a:t>
            </a:r>
            <a:endParaRPr lang="en-US" sz="105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23760" y="4681728"/>
            <a:ext cx="201168" cy="201168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479792" y="46542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</a:rPr>
              <a:t>Franquicia verde</a:t>
            </a:r>
            <a:endParaRPr lang="en-US" sz="1050" dirty="0"/>
          </a:p>
        </p:txBody>
      </p:sp>
      <p:sp>
        <p:nvSpPr>
          <p:cNvPr id="62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3D20"/>
          </a:solidFill>
          <a:ln w="12700">
            <a:solidFill>
              <a:srgbClr val="0F3D20"/>
            </a:solidFill>
            <a:prstDash val="solid"/>
          </a:ln>
        </p:spPr>
      </p:sp>
      <p:sp>
        <p:nvSpPr>
          <p:cNvPr id="63" name="Text 4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6A"/>
                </a:solidFill>
              </a:rPr>
              <a:t>AquaVerde · Clase de Sostenibilidad ·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474720" cy="3474720"/>
          </a:xfrm>
          <a:prstGeom prst="ellipse">
            <a:avLst/>
          </a:prstGeom>
          <a:solidFill>
            <a:srgbClr val="1A5C2E">
              <a:alpha val="45000"/>
            </a:srgbClr>
          </a:solidFill>
          <a:ln w="12700">
            <a:solidFill>
              <a:srgbClr val="1A5C2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108960"/>
            <a:ext cx="2926080" cy="2926080"/>
          </a:xfrm>
          <a:prstGeom prst="ellipse">
            <a:avLst/>
          </a:prstGeom>
          <a:solidFill>
            <a:srgbClr val="1A5C2E">
              <a:alpha val="40000"/>
            </a:srgbClr>
          </a:solidFill>
          <a:ln w="12700">
            <a:solidFill>
              <a:srgbClr val="1A5C2E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200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7276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futuro es verde.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30428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C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momento es ahora.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072384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B8F5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AquaVerde no es solo un producto — es una declaración de que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B8F5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innovación y la responsabilidad ambiental pueden ir de la mano.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05840" y="4160520"/>
            <a:ext cx="2240280" cy="475488"/>
          </a:xfrm>
          <a:prstGeom prst="roundRect">
            <a:avLst>
              <a:gd name="adj" fmla="val 42308"/>
            </a:avLst>
          </a:prstGeom>
          <a:solidFill>
            <a:srgbClr val="1A5C2E"/>
          </a:solidFill>
          <a:ln w="19050">
            <a:solidFill>
              <a:srgbClr val="3ECF6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42793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178808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FCE8"/>
                </a:solidFill>
              </a:rPr>
              <a:t>BIODEGRADABLE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47872" y="4160520"/>
            <a:ext cx="2240280" cy="475488"/>
          </a:xfrm>
          <a:prstGeom prst="roundRect">
            <a:avLst>
              <a:gd name="adj" fmla="val 42308"/>
            </a:avLst>
          </a:prstGeom>
          <a:solidFill>
            <a:srgbClr val="1A5C2E"/>
          </a:solidFill>
          <a:ln w="19050">
            <a:solidFill>
              <a:srgbClr val="3ECF6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42793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05072" y="4178808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FCE8"/>
                </a:solidFill>
              </a:rPr>
              <a:t>SIN PLÁSTICO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89904" y="4160520"/>
            <a:ext cx="2240280" cy="475488"/>
          </a:xfrm>
          <a:prstGeom prst="roundRect">
            <a:avLst>
              <a:gd name="adj" fmla="val 42308"/>
            </a:avLst>
          </a:prstGeom>
          <a:solidFill>
            <a:srgbClr val="1A5C2E"/>
          </a:solidFill>
          <a:ln w="19050">
            <a:solidFill>
              <a:srgbClr val="3ECF6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42793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47104" y="4178808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FCE8"/>
                </a:solidFill>
              </a:rPr>
              <a:t>PRO-OCÉANO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3D20"/>
          </a:solidFill>
          <a:ln w="12700">
            <a:solidFill>
              <a:srgbClr val="0F3D2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6A"/>
                </a:solidFill>
              </a:rPr>
              <a:t>AquaVerde · Clase de Sostenibilidad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AquaVerde - Clase de Sostenibilidad</dc:title>
  <dc:subject>PptxGenJS Presentation</dc:subject>
  <dc:creator>PptxGenJS</dc:creator>
  <cp:lastModifiedBy>PptxGenJS</cp:lastModifiedBy>
  <cp:revision>1</cp:revision>
  <dcterms:created xsi:type="dcterms:W3CDTF">2026-03-12T09:28:17Z</dcterms:created>
  <dcterms:modified xsi:type="dcterms:W3CDTF">2026-03-12T09:28:17Z</dcterms:modified>
</cp:coreProperties>
</file>